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053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1D33E-8F80-E5DA-24AD-532B877E5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66ECB-3BA3-167D-588E-4C644B233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23D34-8C76-A35D-05D1-BD52531E3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04D6F-A9A0-EB92-2C24-9E89C9B3CD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62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BA2FA-0967-8667-6E5D-C90A0D78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808A4D-DF3A-4C67-86A4-D45EA6C1174B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34C017-34A1-20B1-AA40-9932C4A08C22}"/>
              </a:ext>
            </a:extLst>
          </p:cNvPr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237717-3C5A-CC02-2D19-9063B08C1EF6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DA0FB4-717B-6DEA-FFDC-2B62E6D0615D}"/>
              </a:ext>
            </a:extLst>
          </p:cNvPr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Miercoles</a:t>
            </a:r>
            <a:r>
              <a:rPr lang="en-US" sz="130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22 de Abril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F149FB4-F4C3-0156-10A3-4740A5054B3F}"/>
              </a:ext>
            </a:extLst>
          </p:cNvPr>
          <p:cNvSpPr/>
          <p:nvPr/>
        </p:nvSpPr>
        <p:spPr>
          <a:xfrm>
            <a:off x="274320" y="1234440"/>
            <a:ext cx="4114800" cy="50292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7D6F207-74DB-A9EB-7E60-CE17E66350EB}"/>
              </a:ext>
            </a:extLst>
          </p:cNvPr>
          <p:cNvSpPr/>
          <p:nvPr/>
        </p:nvSpPr>
        <p:spPr>
          <a:xfrm>
            <a:off x="320040" y="12344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0535B0E-9F0E-90A0-22B7-93E46F179865}"/>
              </a:ext>
            </a:extLst>
          </p:cNvPr>
          <p:cNvSpPr/>
          <p:nvPr/>
        </p:nvSpPr>
        <p:spPr>
          <a:xfrm>
            <a:off x="274320" y="175564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anterior a la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(Lunes 20 de Abril)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realizaremos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587429C-1841-67A2-57C5-CFD54ED1CF4D}"/>
              </a:ext>
            </a:extLst>
          </p:cNvPr>
          <p:cNvSpPr/>
          <p:nvPr/>
        </p:nvSpPr>
        <p:spPr>
          <a:xfrm>
            <a:off x="274320" y="25603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BF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6E7902D-BC00-1EDB-3916-58AFBBE75D5A}"/>
              </a:ext>
            </a:extLst>
          </p:cNvPr>
          <p:cNvSpPr/>
          <p:nvPr/>
        </p:nvSpPr>
        <p:spPr>
          <a:xfrm>
            <a:off x="365760" y="25603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b="1" dirty="0" err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</a:t>
            </a: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b="1" dirty="0" err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E50B427-815A-8744-3FE7-EFA67AE4DC1A}"/>
              </a:ext>
            </a:extLst>
          </p:cNvPr>
          <p:cNvSpPr/>
          <p:nvPr/>
        </p:nvSpPr>
        <p:spPr>
          <a:xfrm>
            <a:off x="274320" y="30175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BF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33AD7CB-874D-1779-72E1-8BE6029861C4}"/>
              </a:ext>
            </a:extLst>
          </p:cNvPr>
          <p:cNvSpPr/>
          <p:nvPr/>
        </p:nvSpPr>
        <p:spPr>
          <a:xfrm>
            <a:off x="365760" y="30175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b="1" dirty="0" err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</a:t>
            </a: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b="1" dirty="0" err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50F40F8-A5FD-8856-CC75-B36556B22DA3}"/>
              </a:ext>
            </a:extLst>
          </p:cNvPr>
          <p:cNvSpPr/>
          <p:nvPr/>
        </p:nvSpPr>
        <p:spPr>
          <a:xfrm>
            <a:off x="274320" y="34747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BF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17B04CF-C0BC-D82A-2B60-EEA4DCA0D217}"/>
              </a:ext>
            </a:extLst>
          </p:cNvPr>
          <p:cNvSpPr/>
          <p:nvPr/>
        </p:nvSpPr>
        <p:spPr>
          <a:xfrm>
            <a:off x="365760" y="34747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b="1" dirty="0" err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</a:t>
            </a: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</a:t>
            </a: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( if, </a:t>
            </a:r>
            <a:r>
              <a:rPr lang="en-US" sz="1200" b="1" dirty="0" err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</a:t>
            </a: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else)</a:t>
            </a:r>
            <a:endParaRPr lang="en-US" sz="120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68C36783-AFEB-F878-FF8C-1EEE60580809}"/>
              </a:ext>
            </a:extLst>
          </p:cNvPr>
          <p:cNvSpPr/>
          <p:nvPr/>
        </p:nvSpPr>
        <p:spPr>
          <a:xfrm>
            <a:off x="274320" y="39319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BF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2CC206D8-733A-C2ED-546F-9155FA2F29B3}"/>
              </a:ext>
            </a:extLst>
          </p:cNvPr>
          <p:cNvSpPr/>
          <p:nvPr/>
        </p:nvSpPr>
        <p:spPr>
          <a:xfrm>
            <a:off x="320040" y="39547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b="1" dirty="0" err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</a:t>
            </a: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(while, for)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42488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Python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D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· Tuplas · Diccionarios · Sets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7" name="Text 5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de Respuestas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Listas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ordenada y mutable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50292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ordenada e indexada que puede almacenar cualquier tipo de dato. Se puede modificar después de su creación.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BF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Mutable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BF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2" name="Text 10"/>
          <p:cNvSpPr/>
          <p:nvPr/>
        </p:nvSpPr>
        <p:spPr>
          <a:xfrm>
            <a:off x="365760" y="30175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Permite repetidos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747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BF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Acceso por índice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234440"/>
            <a:ext cx="4206240" cy="1234440"/>
          </a:xfrm>
          <a:prstGeom prst="rect">
            <a:avLst/>
          </a:prstGeom>
          <a:solidFill>
            <a:srgbClr val="1E2A3B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6" name="Text 14"/>
          <p:cNvSpPr/>
          <p:nvPr/>
        </p:nvSpPr>
        <p:spPr>
          <a:xfrm>
            <a:off x="4754880" y="130759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= [1, 2, 3]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lista.append(4)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print(lista)  # [1, 2, 3, 4]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606040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8" name="Text 16"/>
          <p:cNvSpPr/>
          <p:nvPr/>
        </p:nvSpPr>
        <p:spPr>
          <a:xfrm>
            <a:off x="4709160" y="26060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Uso real: Lista de compras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090672"/>
            <a:ext cx="4206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0" name="Text 18"/>
          <p:cNvSpPr/>
          <p:nvPr/>
        </p:nvSpPr>
        <p:spPr>
          <a:xfrm>
            <a:off x="4754880" y="30906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[1, 2, 3, 4]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Tuplas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ordenada e inmutable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50292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 una lista pero inmutable. Una vez creada, no puede modificarse. Ideal para datos que no deben cambiar.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E8E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mutable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BF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2" name="Text 10"/>
          <p:cNvSpPr/>
          <p:nvPr/>
        </p:nvSpPr>
        <p:spPr>
          <a:xfrm>
            <a:off x="365760" y="30175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Permite repetidos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747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BF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Acceso por índice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234440"/>
            <a:ext cx="4206240" cy="1234440"/>
          </a:xfrm>
          <a:prstGeom prst="rect">
            <a:avLst/>
          </a:prstGeom>
          <a:solidFill>
            <a:srgbClr val="1E2A3B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6" name="Text 14"/>
          <p:cNvSpPr/>
          <p:nvPr/>
        </p:nvSpPr>
        <p:spPr>
          <a:xfrm>
            <a:off x="4754880" y="130759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tupla = (1, 2, 3)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print(tupla[0])  #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tupla[0] = 9  → Error!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606040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8" name="Text 16"/>
          <p:cNvSpPr/>
          <p:nvPr/>
        </p:nvSpPr>
        <p:spPr>
          <a:xfrm>
            <a:off x="4709160" y="26060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Uso real: Coordenadas (x, y)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090672"/>
            <a:ext cx="4206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0" name="Text 18"/>
          <p:cNvSpPr/>
          <p:nvPr/>
        </p:nvSpPr>
        <p:spPr>
          <a:xfrm>
            <a:off x="4754880" y="30906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Diccionarios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pares clave → valor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50292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de pares clave-valor. Permite acceso rápido a cualquier valor a través de su clave. Las claves deben ser únicas.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BF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Mutable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E8E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2" name="Text 10"/>
          <p:cNvSpPr/>
          <p:nvPr/>
        </p:nvSpPr>
        <p:spPr>
          <a:xfrm>
            <a:off x="365760" y="30175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claves duplicadas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747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BF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Acceso por clave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234440"/>
            <a:ext cx="4206240" cy="1234440"/>
          </a:xfrm>
          <a:prstGeom prst="rect">
            <a:avLst/>
          </a:prstGeom>
          <a:solidFill>
            <a:srgbClr val="1E2A3B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6" name="Text 14"/>
          <p:cNvSpPr/>
          <p:nvPr/>
        </p:nvSpPr>
        <p:spPr>
          <a:xfrm>
            <a:off x="4754880" y="130759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{"nombre": "Ana", "edad": 20}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print(dic["nombre"])  # Ana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dic["edad"] = 21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606040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8" name="Text 16"/>
          <p:cNvSpPr/>
          <p:nvPr/>
        </p:nvSpPr>
        <p:spPr>
          <a:xfrm>
            <a:off x="4709160" y="26060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Uso real: Datos de un estudiante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090672"/>
            <a:ext cx="4206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0" name="Text 18"/>
          <p:cNvSpPr/>
          <p:nvPr/>
        </p:nvSpPr>
        <p:spPr>
          <a:xfrm>
            <a:off x="4754880" y="30906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"Ana"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Sets (Conjuntos)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sin duplicados y sin orden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50292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no ordenada sin elementos repetidos. Útil para operaciones matemáticas de conjuntos: unión, intersección, diferencia.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BF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Mutable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E8E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2" name="Text 10"/>
          <p:cNvSpPr/>
          <p:nvPr/>
        </p:nvSpPr>
        <p:spPr>
          <a:xfrm>
            <a:off x="365760" y="30175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duplicados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747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E8E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orden fijo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234440"/>
            <a:ext cx="4206240" cy="1234440"/>
          </a:xfrm>
          <a:prstGeom prst="rect">
            <a:avLst/>
          </a:prstGeom>
          <a:solidFill>
            <a:srgbClr val="1E2A3B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6" name="Text 14"/>
          <p:cNvSpPr/>
          <p:nvPr/>
        </p:nvSpPr>
        <p:spPr>
          <a:xfrm>
            <a:off x="4754880" y="130759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{1, 2, 2, 3}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print(s)  # {1, 2, 3}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s.add(4)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606040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8" name="Text 16"/>
          <p:cNvSpPr/>
          <p:nvPr/>
        </p:nvSpPr>
        <p:spPr>
          <a:xfrm>
            <a:off x="4709160" y="26060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Uso real: Eliminar duplicados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090672"/>
            <a:ext cx="4206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0" name="Text 18"/>
          <p:cNvSpPr/>
          <p:nvPr/>
        </p:nvSpPr>
        <p:spPr>
          <a:xfrm>
            <a:off x="4754880" y="30906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{1, 2, 3}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Comparativo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1645920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7" name="Text 5"/>
          <p:cNvSpPr/>
          <p:nvPr/>
        </p:nvSpPr>
        <p:spPr>
          <a:xfrm>
            <a:off x="233172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914400"/>
            <a:ext cx="1645920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9" name="Text 7"/>
          <p:cNvSpPr/>
          <p:nvPr/>
        </p:nvSpPr>
        <p:spPr>
          <a:xfrm>
            <a:off x="397764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914400"/>
            <a:ext cx="1645920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1" name="Text 9"/>
          <p:cNvSpPr/>
          <p:nvPr/>
        </p:nvSpPr>
        <p:spPr>
          <a:xfrm>
            <a:off x="562356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Repetidos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914400"/>
            <a:ext cx="1645920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1A2347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3" name="Text 11"/>
          <p:cNvSpPr/>
          <p:nvPr/>
        </p:nvSpPr>
        <p:spPr>
          <a:xfrm>
            <a:off x="726948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389888"/>
            <a:ext cx="20116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5" name="Text 13"/>
          <p:cNvSpPr/>
          <p:nvPr/>
        </p:nvSpPr>
        <p:spPr>
          <a:xfrm>
            <a:off x="347472" y="138988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0" y="1389888"/>
            <a:ext cx="1645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7" name="Text 15"/>
          <p:cNvSpPr/>
          <p:nvPr/>
        </p:nvSpPr>
        <p:spPr>
          <a:xfrm>
            <a:off x="2331720" y="13898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31920" y="1389888"/>
            <a:ext cx="1645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9" name="Text 17"/>
          <p:cNvSpPr/>
          <p:nvPr/>
        </p:nvSpPr>
        <p:spPr>
          <a:xfrm>
            <a:off x="3977640" y="13898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1389888"/>
            <a:ext cx="1645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1" name="Text 19"/>
          <p:cNvSpPr/>
          <p:nvPr/>
        </p:nvSpPr>
        <p:spPr>
          <a:xfrm>
            <a:off x="5623560" y="13898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Sí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23760" y="1389888"/>
            <a:ext cx="1645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3" name="Text 21"/>
          <p:cNvSpPr/>
          <p:nvPr/>
        </p:nvSpPr>
        <p:spPr>
          <a:xfrm>
            <a:off x="7269480" y="13898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índice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1865376"/>
            <a:ext cx="2011680" cy="457200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5" name="Text 23"/>
          <p:cNvSpPr/>
          <p:nvPr/>
        </p:nvSpPr>
        <p:spPr>
          <a:xfrm>
            <a:off x="347472" y="1865376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286000" y="1865376"/>
            <a:ext cx="1645920" cy="457200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7" name="Text 25"/>
          <p:cNvSpPr/>
          <p:nvPr/>
        </p:nvSpPr>
        <p:spPr>
          <a:xfrm>
            <a:off x="2331720" y="18653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Sí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31920" y="1865376"/>
            <a:ext cx="1645920" cy="457200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9" name="Text 27"/>
          <p:cNvSpPr/>
          <p:nvPr/>
        </p:nvSpPr>
        <p:spPr>
          <a:xfrm>
            <a:off x="3977640" y="18653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77840" y="1865376"/>
            <a:ext cx="1645920" cy="457200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1" name="Text 29"/>
          <p:cNvSpPr/>
          <p:nvPr/>
        </p:nvSpPr>
        <p:spPr>
          <a:xfrm>
            <a:off x="5623560" y="18653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Sí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23760" y="1865376"/>
            <a:ext cx="1645920" cy="457200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3" name="Text 31"/>
          <p:cNvSpPr/>
          <p:nvPr/>
        </p:nvSpPr>
        <p:spPr>
          <a:xfrm>
            <a:off x="7269480" y="18653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índice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2340864"/>
            <a:ext cx="20116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5" name="Text 33"/>
          <p:cNvSpPr/>
          <p:nvPr/>
        </p:nvSpPr>
        <p:spPr>
          <a:xfrm>
            <a:off x="347472" y="2340864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286000" y="2340864"/>
            <a:ext cx="1645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7" name="Text 35"/>
          <p:cNvSpPr/>
          <p:nvPr/>
        </p:nvSpPr>
        <p:spPr>
          <a:xfrm>
            <a:off x="2331720" y="234086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931920" y="2340864"/>
            <a:ext cx="1645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9" name="Text 37"/>
          <p:cNvSpPr/>
          <p:nvPr/>
        </p:nvSpPr>
        <p:spPr>
          <a:xfrm>
            <a:off x="3977640" y="234086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Sí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577840" y="2340864"/>
            <a:ext cx="1645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1" name="Text 39"/>
          <p:cNvSpPr/>
          <p:nvPr/>
        </p:nvSpPr>
        <p:spPr>
          <a:xfrm>
            <a:off x="5623560" y="234086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Claves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223760" y="2340864"/>
            <a:ext cx="1645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3" name="Text 41"/>
          <p:cNvSpPr/>
          <p:nvPr/>
        </p:nvSpPr>
        <p:spPr>
          <a:xfrm>
            <a:off x="7269480" y="234086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clave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2816352"/>
            <a:ext cx="2011680" cy="457200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5" name="Text 43"/>
          <p:cNvSpPr/>
          <p:nvPr/>
        </p:nvSpPr>
        <p:spPr>
          <a:xfrm>
            <a:off x="347472" y="2816352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286000" y="2816352"/>
            <a:ext cx="1645920" cy="457200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7" name="Text 45"/>
          <p:cNvSpPr/>
          <p:nvPr/>
        </p:nvSpPr>
        <p:spPr>
          <a:xfrm>
            <a:off x="2331720" y="28163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931920" y="2816352"/>
            <a:ext cx="1645920" cy="457200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9" name="Text 47"/>
          <p:cNvSpPr/>
          <p:nvPr/>
        </p:nvSpPr>
        <p:spPr>
          <a:xfrm>
            <a:off x="3977640" y="28163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Sí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577840" y="2816352"/>
            <a:ext cx="1645920" cy="457200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51" name="Text 49"/>
          <p:cNvSpPr/>
          <p:nvPr/>
        </p:nvSpPr>
        <p:spPr>
          <a:xfrm>
            <a:off x="5623560" y="28163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223760" y="2816352"/>
            <a:ext cx="1645920" cy="457200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53" name="Text 51"/>
          <p:cNvSpPr/>
          <p:nvPr/>
        </p:nvSpPr>
        <p:spPr>
          <a:xfrm>
            <a:off x="7269480" y="28163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índice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D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estructura según tus necesidades de mutabilidad, orden y unicidad.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458</Words>
  <Application>Microsoft Macintosh PowerPoint</Application>
  <PresentationFormat>On-screen Show (16:9)</PresentationFormat>
  <Paragraphs>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Estructuras de Datos en Python</dc:title>
  <dc:subject>PptxGenJS Presentation</dc:subject>
  <dc:creator>PptxGenJS</dc:creator>
  <cp:lastModifiedBy>Maria Ignacia Gonzalez De Miguel</cp:lastModifiedBy>
  <cp:revision>2</cp:revision>
  <dcterms:created xsi:type="dcterms:W3CDTF">2026-03-23T17:46:50Z</dcterms:created>
  <dcterms:modified xsi:type="dcterms:W3CDTF">2026-04-06T17:58:30Z</dcterms:modified>
</cp:coreProperties>
</file>